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6"/>
  </p:notesMasterIdLst>
  <p:sldIdLst>
    <p:sldId id="256" r:id="rId2"/>
    <p:sldId id="714" r:id="rId3"/>
    <p:sldId id="676" r:id="rId4"/>
    <p:sldId id="715" r:id="rId5"/>
    <p:sldId id="717" r:id="rId6"/>
    <p:sldId id="718" r:id="rId7"/>
    <p:sldId id="719" r:id="rId8"/>
    <p:sldId id="720" r:id="rId9"/>
    <p:sldId id="721" r:id="rId10"/>
    <p:sldId id="723" r:id="rId11"/>
    <p:sldId id="724" r:id="rId12"/>
    <p:sldId id="725" r:id="rId13"/>
    <p:sldId id="726" r:id="rId14"/>
    <p:sldId id="3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333F50"/>
    <a:srgbClr val="8497B0"/>
    <a:srgbClr val="8FAADC"/>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28" autoAdjust="0"/>
    <p:restoredTop sz="93447" autoAdjust="0"/>
  </p:normalViewPr>
  <p:slideViewPr>
    <p:cSldViewPr snapToGrid="0">
      <p:cViewPr>
        <p:scale>
          <a:sx n="80" d="100"/>
          <a:sy n="80" d="100"/>
        </p:scale>
        <p:origin x="-696" y="-101"/>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24-10-2025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2790564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Credit Card Usage Segmentation </a:t>
            </a:r>
            <a:endParaRPr lang="en-US" sz="4400" b="1" dirty="0">
              <a:latin typeface="Calibri" panose="020F0502020204030204" pitchFamily="34" charset="0"/>
            </a:endParaRPr>
          </a:p>
        </p:txBody>
      </p:sp>
      <p:sp>
        <p:nvSpPr>
          <p:cNvPr id="3" name="TextBox 2"/>
          <p:cNvSpPr txBox="1"/>
          <p:nvPr/>
        </p:nvSpPr>
        <p:spPr>
          <a:xfrm>
            <a:off x="7552267" y="5825067"/>
            <a:ext cx="4411133" cy="461665"/>
          </a:xfrm>
          <a:prstGeom prst="rect">
            <a:avLst/>
          </a:prstGeom>
          <a:noFill/>
        </p:spPr>
        <p:txBody>
          <a:bodyPr wrap="square" rtlCol="0">
            <a:spAutoFit/>
          </a:bodyPr>
          <a:lstStyle/>
          <a:p>
            <a:r>
              <a:rPr lang="en-US" sz="2400" b="1" dirty="0">
                <a:solidFill>
                  <a:schemeClr val="bg1"/>
                </a:solidFill>
              </a:rPr>
              <a:t>Presented by: </a:t>
            </a:r>
            <a:r>
              <a:rPr lang="en-US" sz="2400" b="1" i="1" dirty="0" err="1">
                <a:solidFill>
                  <a:schemeClr val="bg1"/>
                </a:solidFill>
              </a:rPr>
              <a:t>Abantika</a:t>
            </a:r>
            <a:r>
              <a:rPr lang="en-US" sz="2400" b="1" i="1" dirty="0">
                <a:solidFill>
                  <a:schemeClr val="bg1"/>
                </a:solidFill>
              </a:rPr>
              <a:t> Jena</a:t>
            </a:r>
            <a:endParaRPr lang="en-US" sz="2400" b="1" dirty="0">
              <a:solidFill>
                <a:schemeClr val="bg1"/>
              </a:solidFill>
            </a:endParaRPr>
          </a:p>
        </p:txBody>
      </p:sp>
    </p:spTree>
    <p:extLst>
      <p:ext uri="{BB962C8B-B14F-4D97-AF65-F5344CB8AC3E}">
        <p14:creationId xmlns:p14="http://schemas.microsoft.com/office/powerpoint/2010/main" val="10243347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38B360-A630-EE21-210D-844E85048949}"/>
              </a:ext>
            </a:extLst>
          </p:cNvPr>
          <p:cNvSpPr>
            <a:spLocks noGrp="1"/>
          </p:cNvSpPr>
          <p:nvPr>
            <p:ph type="title"/>
          </p:nvPr>
        </p:nvSpPr>
        <p:spPr>
          <a:xfrm>
            <a:off x="0" y="0"/>
            <a:ext cx="2867025" cy="6858000"/>
          </a:xfrm>
          <a:solidFill>
            <a:schemeClr val="tx2">
              <a:lumMod val="40000"/>
              <a:lumOff val="60000"/>
            </a:schemeClr>
          </a:solidFill>
        </p:spPr>
        <p:txBody>
          <a:bodyPr>
            <a:normAutofit/>
          </a:bodyPr>
          <a:lstStyle/>
          <a:p>
            <a:r>
              <a:rPr lang="en-US" sz="4400" dirty="0" smtClean="0"/>
              <a:t>     Agenda</a:t>
            </a:r>
            <a:endParaRPr lang="en-IN" sz="4400" dirty="0"/>
          </a:p>
        </p:txBody>
      </p:sp>
      <p:sp>
        <p:nvSpPr>
          <p:cNvPr id="4" name="Round Diagonal Corner Rectangle 3"/>
          <p:cNvSpPr/>
          <p:nvPr/>
        </p:nvSpPr>
        <p:spPr>
          <a:xfrm>
            <a:off x="3133725" y="1000070"/>
            <a:ext cx="3949516" cy="704903"/>
          </a:xfrm>
          <a:prstGeom prst="round2DiagRect">
            <a:avLst/>
          </a:prstGeom>
          <a:solidFill>
            <a:schemeClr val="accent1">
              <a:lumMod val="60000"/>
              <a:lumOff val="4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algn="ctr"/>
            <a:endParaRPr lang="en-US" sz="2400" dirty="0"/>
          </a:p>
        </p:txBody>
      </p:sp>
      <p:sp>
        <p:nvSpPr>
          <p:cNvPr id="6" name="Round Diagonal Corner Rectangle 5"/>
          <p:cNvSpPr/>
          <p:nvPr/>
        </p:nvSpPr>
        <p:spPr>
          <a:xfrm>
            <a:off x="3645735" y="1723995"/>
            <a:ext cx="3949516" cy="704903"/>
          </a:xfrm>
          <a:prstGeom prst="round2DiagRect">
            <a:avLst/>
          </a:prstGeom>
          <a:solidFill>
            <a:schemeClr val="accent1">
              <a:lumMod val="60000"/>
              <a:lumOff val="4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lvl="0">
              <a:lnSpc>
                <a:spcPct val="90000"/>
              </a:lnSpc>
              <a:spcBef>
                <a:spcPts val="1000"/>
              </a:spcBef>
            </a:pPr>
            <a:endParaRPr lang="en-US" sz="3200" dirty="0">
              <a:solidFill>
                <a:srgbClr val="E7E6E6">
                  <a:lumMod val="10000"/>
                </a:srgbClr>
              </a:solidFill>
              <a:latin typeface="Calibri" panose="020F0502020204030204" pitchFamily="34" charset="0"/>
            </a:endParaRPr>
          </a:p>
        </p:txBody>
      </p:sp>
      <p:sp>
        <p:nvSpPr>
          <p:cNvPr id="7" name="Round Diagonal Corner Rectangle 6"/>
          <p:cNvSpPr/>
          <p:nvPr/>
        </p:nvSpPr>
        <p:spPr>
          <a:xfrm>
            <a:off x="4287475" y="2432654"/>
            <a:ext cx="3949516" cy="704903"/>
          </a:xfrm>
          <a:prstGeom prst="round2DiagRect">
            <a:avLst/>
          </a:prstGeom>
          <a:solidFill>
            <a:schemeClr val="accent1">
              <a:lumMod val="60000"/>
              <a:lumOff val="4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algn="ctr"/>
            <a:endParaRPr lang="en-US" sz="2400"/>
          </a:p>
        </p:txBody>
      </p:sp>
      <p:sp>
        <p:nvSpPr>
          <p:cNvPr id="8" name="Round Diagonal Corner Rectangle 7"/>
          <p:cNvSpPr/>
          <p:nvPr/>
        </p:nvSpPr>
        <p:spPr>
          <a:xfrm>
            <a:off x="4880240" y="3137653"/>
            <a:ext cx="3949516" cy="704903"/>
          </a:xfrm>
          <a:prstGeom prst="round2DiagRect">
            <a:avLst/>
          </a:prstGeom>
          <a:solidFill>
            <a:schemeClr val="accent1">
              <a:lumMod val="60000"/>
              <a:lumOff val="4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algn="ctr"/>
            <a:endParaRPr lang="en-US" sz="2400" dirty="0"/>
          </a:p>
        </p:txBody>
      </p:sp>
      <p:sp>
        <p:nvSpPr>
          <p:cNvPr id="9" name="Round Diagonal Corner Rectangle 8"/>
          <p:cNvSpPr/>
          <p:nvPr/>
        </p:nvSpPr>
        <p:spPr>
          <a:xfrm>
            <a:off x="5535703" y="3838521"/>
            <a:ext cx="3949516" cy="704903"/>
          </a:xfrm>
          <a:prstGeom prst="round2DiagRect">
            <a:avLst/>
          </a:prstGeom>
          <a:solidFill>
            <a:schemeClr val="accent1">
              <a:lumMod val="60000"/>
              <a:lumOff val="4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algn="ctr"/>
            <a:endParaRPr lang="en-US" sz="2400"/>
          </a:p>
        </p:txBody>
      </p:sp>
      <p:sp>
        <p:nvSpPr>
          <p:cNvPr id="10" name="Round Diagonal Corner Rectangle 9"/>
          <p:cNvSpPr/>
          <p:nvPr/>
        </p:nvSpPr>
        <p:spPr>
          <a:xfrm>
            <a:off x="6151388" y="4543424"/>
            <a:ext cx="3949516" cy="704903"/>
          </a:xfrm>
          <a:prstGeom prst="round2DiagRect">
            <a:avLst/>
          </a:prstGeom>
          <a:solidFill>
            <a:schemeClr val="accent1">
              <a:lumMod val="60000"/>
              <a:lumOff val="4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algn="ctr"/>
            <a:endParaRPr lang="en-US" sz="2400"/>
          </a:p>
        </p:txBody>
      </p:sp>
      <p:sp>
        <p:nvSpPr>
          <p:cNvPr id="5" name="TextBox 4"/>
          <p:cNvSpPr txBox="1"/>
          <p:nvPr/>
        </p:nvSpPr>
        <p:spPr>
          <a:xfrm>
            <a:off x="4526426" y="2551979"/>
            <a:ext cx="3649974" cy="830997"/>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b="1" dirty="0"/>
              <a:t>Data Processing &amp; Analysis</a:t>
            </a:r>
          </a:p>
          <a:p>
            <a:endParaRPr lang="en-US" sz="2400" dirty="0"/>
          </a:p>
        </p:txBody>
      </p:sp>
      <p:sp>
        <p:nvSpPr>
          <p:cNvPr id="11" name="TextBox 10"/>
          <p:cNvSpPr txBox="1"/>
          <p:nvPr/>
        </p:nvSpPr>
        <p:spPr>
          <a:xfrm>
            <a:off x="5108483" y="3259271"/>
            <a:ext cx="3940267" cy="461665"/>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b="1" dirty="0">
                <a:solidFill>
                  <a:srgbClr val="161A3E"/>
                </a:solidFill>
                <a:latin typeface="Calibri" panose="020F0502020204030204" pitchFamily="34" charset="0"/>
                <a:ea typeface="+mj-ea"/>
                <a:cs typeface="+mj-cs"/>
              </a:rPr>
              <a:t>Cluster </a:t>
            </a:r>
            <a:r>
              <a:rPr lang="en-US" sz="2400" b="1" dirty="0"/>
              <a:t>Analysis</a:t>
            </a:r>
            <a:r>
              <a:rPr lang="en-US" sz="2400" b="1" dirty="0">
                <a:solidFill>
                  <a:srgbClr val="161A3E"/>
                </a:solidFill>
                <a:latin typeface="Calibri" panose="020F0502020204030204" pitchFamily="34" charset="0"/>
                <a:ea typeface="+mj-ea"/>
                <a:cs typeface="+mj-cs"/>
              </a:rPr>
              <a:t> &amp; Insights</a:t>
            </a:r>
            <a:endParaRPr lang="en-US" sz="2400" b="1" dirty="0"/>
          </a:p>
        </p:txBody>
      </p:sp>
      <p:sp>
        <p:nvSpPr>
          <p:cNvPr id="12" name="TextBox 11"/>
          <p:cNvSpPr txBox="1"/>
          <p:nvPr/>
        </p:nvSpPr>
        <p:spPr>
          <a:xfrm>
            <a:off x="5922360" y="3991215"/>
            <a:ext cx="3638880" cy="461665"/>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b="1" dirty="0" smtClean="0"/>
              <a:t>Dashboard Visualization</a:t>
            </a:r>
            <a:endParaRPr lang="en-US" sz="2400" dirty="0"/>
          </a:p>
        </p:txBody>
      </p:sp>
      <p:sp>
        <p:nvSpPr>
          <p:cNvPr id="13" name="TextBox 12"/>
          <p:cNvSpPr txBox="1"/>
          <p:nvPr/>
        </p:nvSpPr>
        <p:spPr>
          <a:xfrm>
            <a:off x="6334125" y="4654243"/>
            <a:ext cx="3562351" cy="83099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2400" b="1" dirty="0"/>
              <a:t>Conclusion &amp; Future Work</a:t>
            </a:r>
            <a:endParaRPr lang="en-IN" sz="2400" dirty="0"/>
          </a:p>
          <a:p>
            <a:endParaRPr lang="en-US" sz="2400" dirty="0"/>
          </a:p>
        </p:txBody>
      </p:sp>
      <p:sp>
        <p:nvSpPr>
          <p:cNvPr id="14" name="TextBox 13"/>
          <p:cNvSpPr txBox="1"/>
          <p:nvPr/>
        </p:nvSpPr>
        <p:spPr>
          <a:xfrm>
            <a:off x="4471140" y="1847106"/>
            <a:ext cx="3616692" cy="830997"/>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lvl="0"/>
            <a:r>
              <a:rPr lang="en-US" sz="2400" b="1" dirty="0">
                <a:solidFill>
                  <a:srgbClr val="E7E6E6">
                    <a:lumMod val="10000"/>
                  </a:srgbClr>
                </a:solidFill>
                <a:latin typeface="Calibri" panose="020F0502020204030204" pitchFamily="34" charset="0"/>
              </a:rPr>
              <a:t>Dataset Description</a:t>
            </a:r>
            <a:r>
              <a:rPr lang="en-US" sz="2400" dirty="0">
                <a:solidFill>
                  <a:srgbClr val="E7E6E6">
                    <a:lumMod val="10000"/>
                  </a:srgbClr>
                </a:solidFill>
                <a:latin typeface="Calibri" panose="020F0502020204030204" pitchFamily="34" charset="0"/>
              </a:rPr>
              <a:t> </a:t>
            </a:r>
          </a:p>
          <a:p>
            <a:endParaRPr lang="en-US" sz="2400" dirty="0"/>
          </a:p>
        </p:txBody>
      </p:sp>
      <p:sp>
        <p:nvSpPr>
          <p:cNvPr id="16" name="TextBox 15"/>
          <p:cNvSpPr txBox="1"/>
          <p:nvPr/>
        </p:nvSpPr>
        <p:spPr>
          <a:xfrm>
            <a:off x="3759249" y="1016109"/>
            <a:ext cx="2924630" cy="830997"/>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US" sz="2400" b="1" dirty="0">
                <a:solidFill>
                  <a:srgbClr val="E7E6E6">
                    <a:lumMod val="10000"/>
                  </a:srgbClr>
                </a:solidFill>
                <a:latin typeface="Calibri" panose="020F0502020204030204" pitchFamily="34" charset="0"/>
              </a:rPr>
              <a:t>Project Overview</a:t>
            </a:r>
            <a:r>
              <a:rPr lang="en-US" sz="2400" dirty="0">
                <a:solidFill>
                  <a:srgbClr val="E7E6E6">
                    <a:lumMod val="10000"/>
                  </a:srgbClr>
                </a:solidFill>
                <a:latin typeface="Calibri" panose="020F0502020204030204" pitchFamily="34" charset="0"/>
              </a:rPr>
              <a:t> </a:t>
            </a:r>
            <a:endParaRPr lang="en-US" sz="2400" dirty="0"/>
          </a:p>
          <a:p>
            <a:endParaRPr lang="en-US" sz="2400" dirty="0"/>
          </a:p>
        </p:txBody>
      </p:sp>
    </p:spTree>
    <p:extLst>
      <p:ext uri="{BB962C8B-B14F-4D97-AF65-F5344CB8AC3E}">
        <p14:creationId xmlns:p14="http://schemas.microsoft.com/office/powerpoint/2010/main" val="19538045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ppt_x</p:attrName>
                                        </p:attrNameLst>
                                      </p:cBhvr>
                                      <p:tavLst>
                                        <p:tav tm="0">
                                          <p:val>
                                            <p:strVal val="#ppt_x"/>
                                          </p:val>
                                        </p:tav>
                                        <p:tav tm="100000">
                                          <p:val>
                                            <p:strVal val="#ppt_x"/>
                                          </p:val>
                                        </p:tav>
                                      </p:tavLst>
                                    </p:anim>
                                    <p:anim calcmode="lin" valueType="num">
                                      <p:cBhvr>
                                        <p:cTn id="49" dur="10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anim calcmode="lin" valueType="num">
                                      <p:cBhvr>
                                        <p:cTn id="53" dur="1000" fill="hold"/>
                                        <p:tgtEl>
                                          <p:spTgt spid="14"/>
                                        </p:tgtEl>
                                        <p:attrNameLst>
                                          <p:attrName>ppt_x</p:attrName>
                                        </p:attrNameLst>
                                      </p:cBhvr>
                                      <p:tavLst>
                                        <p:tav tm="0">
                                          <p:val>
                                            <p:strVal val="#ppt_x"/>
                                          </p:val>
                                        </p:tav>
                                        <p:tav tm="100000">
                                          <p:val>
                                            <p:strVal val="#ppt_x"/>
                                          </p:val>
                                        </p:tav>
                                      </p:tavLst>
                                    </p:anim>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1000"/>
                                        <p:tgtEl>
                                          <p:spTgt spid="16"/>
                                        </p:tgtEl>
                                      </p:cBhvr>
                                    </p:animEffect>
                                    <p:anim calcmode="lin" valueType="num">
                                      <p:cBhvr>
                                        <p:cTn id="58" dur="1000" fill="hold"/>
                                        <p:tgtEl>
                                          <p:spTgt spid="16"/>
                                        </p:tgtEl>
                                        <p:attrNameLst>
                                          <p:attrName>ppt_x</p:attrName>
                                        </p:attrNameLst>
                                      </p:cBhvr>
                                      <p:tavLst>
                                        <p:tav tm="0">
                                          <p:val>
                                            <p:strVal val="#ppt_x"/>
                                          </p:val>
                                        </p:tav>
                                        <p:tav tm="100000">
                                          <p:val>
                                            <p:strVal val="#ppt_x"/>
                                          </p:val>
                                        </p:tav>
                                      </p:tavLst>
                                    </p:anim>
                                    <p:anim calcmode="lin" valueType="num">
                                      <p:cBhvr>
                                        <p:cTn id="5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5" grpId="0"/>
      <p:bldP spid="11" grpId="0"/>
      <p:bldP spid="12" grpId="0"/>
      <p:bldP spid="13" grpId="0"/>
      <p:bldP spid="14"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C5BA2E58-FEC9-D54D-ACC0-E7CEEF5F42E4}"/>
              </a:ext>
            </a:extLst>
          </p:cNvPr>
          <p:cNvSpPr>
            <a:spLocks noGrp="1"/>
          </p:cNvSpPr>
          <p:nvPr>
            <p:ph type="title"/>
          </p:nvPr>
        </p:nvSpPr>
        <p:spPr>
          <a:xfrm>
            <a:off x="0" y="0"/>
            <a:ext cx="12192000" cy="790575"/>
          </a:xfrm>
        </p:spPr>
        <p:style>
          <a:lnRef idx="1">
            <a:schemeClr val="accent1"/>
          </a:lnRef>
          <a:fillRef idx="2">
            <a:schemeClr val="accent1"/>
          </a:fillRef>
          <a:effectRef idx="1">
            <a:schemeClr val="accent1"/>
          </a:effectRef>
          <a:fontRef idx="minor">
            <a:schemeClr val="dk1"/>
          </a:fontRef>
        </p:style>
        <p:txBody>
          <a:bodyPr vert="horz" lIns="0" tIns="0" rIns="0" bIns="0" rtlCol="0" anchor="b">
            <a:normAutofit/>
          </a:bodyPr>
          <a:lstStyle/>
          <a:p>
            <a:r>
              <a:rPr lang="en-US" sz="4000" dirty="0" smtClean="0">
                <a:solidFill>
                  <a:schemeClr val="dk1"/>
                </a:solidFill>
                <a:latin typeface="+mn-lt"/>
                <a:ea typeface="+mn-ea"/>
                <a:cs typeface="+mn-cs"/>
              </a:rPr>
              <a:t>                                       Project </a:t>
            </a:r>
            <a:r>
              <a:rPr lang="en-US" sz="4000" dirty="0">
                <a:solidFill>
                  <a:schemeClr val="dk1"/>
                </a:solidFill>
                <a:latin typeface="+mn-lt"/>
                <a:ea typeface="+mn-ea"/>
                <a:cs typeface="+mn-cs"/>
              </a:rPr>
              <a:t>Overview</a:t>
            </a:r>
          </a:p>
        </p:txBody>
      </p:sp>
      <p:sp>
        <p:nvSpPr>
          <p:cNvPr id="2" name="Content Placeholder 1">
            <a:extLst>
              <a:ext uri="{FF2B5EF4-FFF2-40B4-BE49-F238E27FC236}">
                <a16:creationId xmlns="" xmlns:a16="http://schemas.microsoft.com/office/drawing/2014/main" id="{C9565BAE-48A9-8300-4E79-87D77968413B}"/>
              </a:ext>
            </a:extLst>
          </p:cNvPr>
          <p:cNvSpPr>
            <a:spLocks noGrp="1"/>
          </p:cNvSpPr>
          <p:nvPr>
            <p:ph idx="1"/>
          </p:nvPr>
        </p:nvSpPr>
        <p:spPr>
          <a:xfrm>
            <a:off x="1862667" y="3359329"/>
            <a:ext cx="9948334" cy="2167467"/>
          </a:xfrm>
        </p:spPr>
        <p:txBody>
          <a:bodyPr lIns="0" tIns="0" rIns="0" bIns="0" numCol="2">
            <a:normAutofit/>
          </a:bodyPr>
          <a:lstStyle/>
          <a:p>
            <a:pPr marL="0" indent="0">
              <a:buNone/>
            </a:pPr>
            <a:r>
              <a:rPr lang="en-US" sz="2400" b="1" dirty="0" smtClean="0"/>
              <a:t>Objectives:</a:t>
            </a:r>
            <a:endParaRPr lang="en-US" sz="2400" dirty="0" smtClean="0"/>
          </a:p>
          <a:p>
            <a:r>
              <a:rPr lang="en-US" sz="2400" dirty="0" smtClean="0"/>
              <a:t>Identify customer usage patterns.</a:t>
            </a:r>
          </a:p>
          <a:p>
            <a:r>
              <a:rPr lang="en-US" sz="2400" dirty="0" smtClean="0"/>
              <a:t>Understand key behavioral segments.</a:t>
            </a:r>
          </a:p>
          <a:p>
            <a:r>
              <a:rPr lang="en-US" sz="2400" dirty="0" smtClean="0"/>
              <a:t>Help businesses design personalized offers and manage risks.</a:t>
            </a:r>
          </a:p>
          <a:p>
            <a:pPr marL="0" indent="0">
              <a:buNone/>
            </a:pPr>
            <a:endParaRPr lang="en-IN" sz="2400" dirty="0"/>
          </a:p>
        </p:txBody>
      </p:sp>
      <p:sp>
        <p:nvSpPr>
          <p:cNvPr id="3" name="TextBox 2"/>
          <p:cNvSpPr txBox="1"/>
          <p:nvPr/>
        </p:nvSpPr>
        <p:spPr>
          <a:xfrm>
            <a:off x="1058333" y="1727200"/>
            <a:ext cx="9872134" cy="1200329"/>
          </a:xfrm>
          <a:prstGeom prst="rect">
            <a:avLst/>
          </a:prstGeom>
          <a:noFill/>
        </p:spPr>
        <p:txBody>
          <a:bodyPr wrap="square" rtlCol="0">
            <a:spAutoFit/>
          </a:bodyPr>
          <a:lstStyle/>
          <a:p>
            <a:r>
              <a:rPr lang="en-US" sz="2400" b="1" dirty="0"/>
              <a:t>Goal:</a:t>
            </a:r>
            <a:r>
              <a:rPr lang="en-US" sz="2400" dirty="0"/>
              <a:t/>
            </a:r>
            <a:br>
              <a:rPr lang="en-US" sz="2400" dirty="0"/>
            </a:br>
            <a:r>
              <a:rPr lang="en-US" sz="2400" dirty="0"/>
              <a:t>To analyze customer credit card data and segment them based on spending and payment behaviors.</a:t>
            </a:r>
          </a:p>
        </p:txBody>
      </p:sp>
    </p:spTree>
    <p:extLst>
      <p:ext uri="{BB962C8B-B14F-4D97-AF65-F5344CB8AC3E}">
        <p14:creationId xmlns:p14="http://schemas.microsoft.com/office/powerpoint/2010/main" val="284599245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7000" y="2548467"/>
            <a:ext cx="2650067" cy="886241"/>
          </a:xfrm>
        </p:spPr>
        <p:txBody>
          <a:bodyPr>
            <a:noAutofit/>
          </a:bodyPr>
          <a:lstStyle/>
          <a:p>
            <a:r>
              <a:rPr lang="en-US" sz="4000" dirty="0">
                <a:solidFill>
                  <a:schemeClr val="bg1"/>
                </a:solidFill>
              </a:rPr>
              <a:t>Dataset </a:t>
            </a:r>
            <a:r>
              <a:rPr lang="en-US" sz="4000" dirty="0" smtClean="0">
                <a:solidFill>
                  <a:schemeClr val="bg1"/>
                </a:solidFill>
              </a:rPr>
              <a:t/>
            </a:r>
            <a:br>
              <a:rPr lang="en-US" sz="4000" dirty="0" smtClean="0">
                <a:solidFill>
                  <a:schemeClr val="bg1"/>
                </a:solidFill>
              </a:rPr>
            </a:br>
            <a:r>
              <a:rPr lang="en-US" sz="4000" dirty="0" smtClean="0">
                <a:solidFill>
                  <a:schemeClr val="bg1"/>
                </a:solidFill>
              </a:rPr>
              <a:t>Description</a:t>
            </a:r>
            <a:endParaRPr lang="en-US" sz="4000" dirty="0">
              <a:solidFill>
                <a:schemeClr val="bg1"/>
              </a:solidFill>
            </a:endParaRPr>
          </a:p>
        </p:txBody>
      </p:sp>
      <p:sp>
        <p:nvSpPr>
          <p:cNvPr id="3" name="Content Placeholder 2"/>
          <p:cNvSpPr>
            <a:spLocks noGrp="1"/>
          </p:cNvSpPr>
          <p:nvPr>
            <p:ph idx="1"/>
          </p:nvPr>
        </p:nvSpPr>
        <p:spPr>
          <a:xfrm>
            <a:off x="266700" y="813167"/>
            <a:ext cx="8276166" cy="4766365"/>
          </a:xfrm>
        </p:spPr>
        <p:txBody>
          <a:bodyPr>
            <a:noAutofit/>
          </a:bodyPr>
          <a:lstStyle/>
          <a:p>
            <a:pPr marL="0" indent="0">
              <a:buNone/>
            </a:pPr>
            <a:r>
              <a:rPr lang="en-US" sz="2400" b="1" dirty="0"/>
              <a:t>Dataset Source:</a:t>
            </a:r>
            <a:r>
              <a:rPr lang="en-US" sz="2400" dirty="0"/>
              <a:t> Credit Card Customer </a:t>
            </a:r>
            <a:r>
              <a:rPr lang="en-US" sz="2400" dirty="0" smtClean="0"/>
              <a:t>Data</a:t>
            </a:r>
          </a:p>
          <a:p>
            <a:pPr marL="0" indent="0">
              <a:buNone/>
            </a:pPr>
            <a:r>
              <a:rPr lang="en-US" sz="2400" dirty="0"/>
              <a:t/>
            </a:r>
            <a:br>
              <a:rPr lang="en-US" sz="2400" dirty="0"/>
            </a:br>
            <a:r>
              <a:rPr lang="en-US" sz="2400" dirty="0" smtClean="0"/>
              <a:t>  	</a:t>
            </a:r>
            <a:r>
              <a:rPr lang="en-US" sz="2400" b="1" dirty="0" smtClean="0"/>
              <a:t>Total </a:t>
            </a:r>
            <a:r>
              <a:rPr lang="en-US" sz="2400" b="1" dirty="0"/>
              <a:t>Records:</a:t>
            </a:r>
            <a:r>
              <a:rPr lang="en-US" sz="2400" dirty="0"/>
              <a:t> 8,950  </a:t>
            </a:r>
            <a:r>
              <a:rPr lang="en-US" sz="2400" b="1" dirty="0"/>
              <a:t>Total Features:</a:t>
            </a:r>
            <a:r>
              <a:rPr lang="en-US" sz="2400" dirty="0"/>
              <a:t> </a:t>
            </a:r>
            <a:r>
              <a:rPr lang="en-US" sz="2400" dirty="0" smtClean="0"/>
              <a:t>18</a:t>
            </a:r>
          </a:p>
          <a:p>
            <a:pPr marL="0" indent="0">
              <a:buNone/>
            </a:pPr>
            <a:endParaRPr lang="en-US" sz="2400" dirty="0"/>
          </a:p>
          <a:p>
            <a:r>
              <a:rPr lang="en-US" sz="2400" dirty="0" smtClean="0"/>
              <a:t>Each </a:t>
            </a:r>
            <a:r>
              <a:rPr lang="en-US" sz="2400" dirty="0"/>
              <a:t>record represents a </a:t>
            </a:r>
            <a:r>
              <a:rPr lang="en-US" sz="2400" b="1" dirty="0"/>
              <a:t>credit card customer</a:t>
            </a:r>
            <a:r>
              <a:rPr lang="en-US" sz="2400" dirty="0"/>
              <a:t>.</a:t>
            </a:r>
          </a:p>
          <a:p>
            <a:r>
              <a:rPr lang="en-US" sz="2400" dirty="0"/>
              <a:t>Key columns </a:t>
            </a:r>
            <a:r>
              <a:rPr lang="en-US" sz="2400" dirty="0" smtClean="0"/>
              <a:t>include : BALANCE</a:t>
            </a:r>
            <a:r>
              <a:rPr lang="en-US" sz="2400" dirty="0"/>
              <a:t>, PURCHASES, CASH_ADVANCE, PAYMENTS, CREDIT_LIMIT.</a:t>
            </a:r>
          </a:p>
          <a:p>
            <a:r>
              <a:rPr lang="en-US" sz="2400" dirty="0"/>
              <a:t>Target is </a:t>
            </a:r>
            <a:r>
              <a:rPr lang="en-US" sz="2400" b="1" dirty="0"/>
              <a:t>not predefined</a:t>
            </a:r>
            <a:r>
              <a:rPr lang="en-US" sz="2400" dirty="0"/>
              <a:t> — we perform </a:t>
            </a:r>
            <a:r>
              <a:rPr lang="en-US" sz="2400" b="1" dirty="0"/>
              <a:t>unsupervised clustering</a:t>
            </a:r>
            <a:r>
              <a:rPr lang="en-US" sz="2400" dirty="0"/>
              <a:t> to group similar customers.</a:t>
            </a:r>
          </a:p>
          <a:p>
            <a:r>
              <a:rPr lang="en-US" sz="2400" dirty="0"/>
              <a:t>Missing values were handled using </a:t>
            </a:r>
            <a:r>
              <a:rPr lang="en-US" sz="2400" b="1" dirty="0"/>
              <a:t>mean imputation</a:t>
            </a:r>
            <a:r>
              <a:rPr lang="en-US" sz="2400" dirty="0"/>
              <a:t>.</a:t>
            </a:r>
          </a:p>
        </p:txBody>
      </p:sp>
    </p:spTree>
    <p:extLst>
      <p:ext uri="{BB962C8B-B14F-4D97-AF65-F5344CB8AC3E}">
        <p14:creationId xmlns:p14="http://schemas.microsoft.com/office/powerpoint/2010/main" val="10518259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914400"/>
          </a:xfrm>
        </p:spPr>
        <p:style>
          <a:lnRef idx="1">
            <a:schemeClr val="accent1"/>
          </a:lnRef>
          <a:fillRef idx="2">
            <a:schemeClr val="accent1"/>
          </a:fillRef>
          <a:effectRef idx="1">
            <a:schemeClr val="accent1"/>
          </a:effectRef>
          <a:fontRef idx="minor">
            <a:schemeClr val="dk1"/>
          </a:fontRef>
        </p:style>
        <p:txBody>
          <a:bodyPr>
            <a:normAutofit/>
          </a:bodyPr>
          <a:lstStyle/>
          <a:p>
            <a:r>
              <a:rPr lang="en-US" sz="4000" dirty="0" smtClean="0"/>
              <a:t>                                     Data </a:t>
            </a:r>
            <a:r>
              <a:rPr lang="en-US" sz="4000" dirty="0"/>
              <a:t>Preprocessing</a:t>
            </a:r>
          </a:p>
        </p:txBody>
      </p:sp>
      <p:sp>
        <p:nvSpPr>
          <p:cNvPr id="2" name="Content Placeholder 1"/>
          <p:cNvSpPr>
            <a:spLocks noGrp="1"/>
          </p:cNvSpPr>
          <p:nvPr>
            <p:ph idx="1"/>
          </p:nvPr>
        </p:nvSpPr>
        <p:spPr>
          <a:xfrm>
            <a:off x="420689" y="1916113"/>
            <a:ext cx="6329928" cy="3502715"/>
          </a:xfrm>
        </p:spPr>
        <p:txBody>
          <a:bodyPr>
            <a:noAutofit/>
          </a:bodyPr>
          <a:lstStyle/>
          <a:p>
            <a:r>
              <a:rPr lang="en-US" sz="2400" dirty="0"/>
              <a:t>Removed CUST_ID as it doesn’t help in analysis.</a:t>
            </a:r>
          </a:p>
          <a:p>
            <a:r>
              <a:rPr lang="en-US" sz="2400" dirty="0"/>
              <a:t>Filled missing values using </a:t>
            </a:r>
            <a:r>
              <a:rPr lang="en-US" sz="2400" b="1" dirty="0"/>
              <a:t>mean</a:t>
            </a:r>
            <a:r>
              <a:rPr lang="en-US" sz="2400" dirty="0"/>
              <a:t>.</a:t>
            </a:r>
          </a:p>
          <a:p>
            <a:r>
              <a:rPr lang="en-US" sz="2400" dirty="0"/>
              <a:t>Applied </a:t>
            </a:r>
            <a:r>
              <a:rPr lang="en-US" sz="2400" b="1" dirty="0" err="1"/>
              <a:t>StandardScaler</a:t>
            </a:r>
            <a:r>
              <a:rPr lang="en-US" sz="2400" dirty="0"/>
              <a:t> to bring all features to a similar scale.</a:t>
            </a:r>
          </a:p>
          <a:p>
            <a:r>
              <a:rPr lang="en-US" sz="2400" dirty="0"/>
              <a:t>Used </a:t>
            </a:r>
            <a:r>
              <a:rPr lang="en-US" sz="2400" b="1" dirty="0"/>
              <a:t>PCA (2 components)</a:t>
            </a:r>
            <a:r>
              <a:rPr lang="en-US" sz="2400" dirty="0"/>
              <a:t> to reduce dimensions and visualize data easily.</a:t>
            </a:r>
          </a:p>
          <a:p>
            <a:r>
              <a:rPr lang="en-US" sz="2400" dirty="0"/>
              <a:t>PCA also helps remove noise and highlight main patterns.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5513" y="1916113"/>
            <a:ext cx="3532187" cy="330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361167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randombar(horizontal)">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
            <a:ext cx="12192000" cy="834608"/>
          </a:xfrm>
        </p:spPr>
        <p:style>
          <a:lnRef idx="1">
            <a:schemeClr val="accent1"/>
          </a:lnRef>
          <a:fillRef idx="2">
            <a:schemeClr val="accent1"/>
          </a:fillRef>
          <a:effectRef idx="1">
            <a:schemeClr val="accent1"/>
          </a:effectRef>
          <a:fontRef idx="minor">
            <a:schemeClr val="dk1"/>
          </a:fontRef>
        </p:style>
        <p:txBody>
          <a:bodyPr>
            <a:normAutofit/>
          </a:bodyPr>
          <a:lstStyle/>
          <a:p>
            <a:r>
              <a:rPr lang="en-US" sz="4000" dirty="0" smtClean="0">
                <a:solidFill>
                  <a:schemeClr val="bg2">
                    <a:lumMod val="10000"/>
                  </a:schemeClr>
                </a:solidFill>
              </a:rPr>
              <a:t>                         Exploratory </a:t>
            </a:r>
            <a:r>
              <a:rPr lang="en-US" sz="4000" dirty="0">
                <a:solidFill>
                  <a:schemeClr val="bg2">
                    <a:lumMod val="10000"/>
                  </a:schemeClr>
                </a:solidFill>
              </a:rPr>
              <a:t>Data Analysis (EDA)</a:t>
            </a:r>
          </a:p>
        </p:txBody>
      </p:sp>
      <p:sp>
        <p:nvSpPr>
          <p:cNvPr id="2" name="Content Placeholder 1"/>
          <p:cNvSpPr>
            <a:spLocks noGrp="1"/>
          </p:cNvSpPr>
          <p:nvPr>
            <p:ph idx="1"/>
          </p:nvPr>
        </p:nvSpPr>
        <p:spPr/>
        <p:txBody>
          <a:bodyPr>
            <a:normAutofit/>
          </a:bodyPr>
          <a:lstStyle/>
          <a:p>
            <a:r>
              <a:rPr lang="en-US" sz="2400" dirty="0"/>
              <a:t>Created </a:t>
            </a:r>
            <a:r>
              <a:rPr lang="en-US" sz="2400" b="1" dirty="0" err="1"/>
              <a:t>heatmap</a:t>
            </a:r>
            <a:r>
              <a:rPr lang="en-US" sz="2400" dirty="0"/>
              <a:t> to understand correlations between features.</a:t>
            </a:r>
          </a:p>
          <a:p>
            <a:r>
              <a:rPr lang="en-US" sz="2400" dirty="0"/>
              <a:t>Plotted </a:t>
            </a:r>
            <a:r>
              <a:rPr lang="en-US" sz="2400" b="1" dirty="0"/>
              <a:t>distributions</a:t>
            </a:r>
            <a:r>
              <a:rPr lang="en-US" sz="2400" dirty="0"/>
              <a:t> for BALANCE, PURCHASES, CASH_ADVANCE, and PAYMENTS.</a:t>
            </a:r>
          </a:p>
          <a:p>
            <a:pPr marL="0" indent="0">
              <a:buNone/>
            </a:pPr>
            <a:r>
              <a:rPr lang="en-US" sz="2400" dirty="0"/>
              <a:t>Observed that:</a:t>
            </a:r>
          </a:p>
          <a:p>
            <a:r>
              <a:rPr lang="en-US" sz="2400" dirty="0"/>
              <a:t>High variation exists among spending habits.</a:t>
            </a:r>
          </a:p>
          <a:p>
            <a:r>
              <a:rPr lang="en-US" sz="2400" dirty="0"/>
              <a:t>Some customers use cards mostly for purchases, others for cash advances.</a:t>
            </a:r>
          </a:p>
          <a:p>
            <a:r>
              <a:rPr lang="en-US" sz="2400" dirty="0"/>
              <a:t>These visuals help identify patterns before clustering.</a:t>
            </a:r>
          </a:p>
          <a:p>
            <a:endParaRPr lang="en-US" sz="2400" dirty="0"/>
          </a:p>
        </p:txBody>
      </p:sp>
      <p:sp>
        <p:nvSpPr>
          <p:cNvPr id="4" name="Text Placeholder 3"/>
          <p:cNvSpPr>
            <a:spLocks noGrp="1"/>
          </p:cNvSpPr>
          <p:nvPr>
            <p:ph type="body" sz="half" idx="2"/>
          </p:nvPr>
        </p:nvSpPr>
        <p:spPr/>
        <p:txBody>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49" y="1724026"/>
            <a:ext cx="4981576" cy="4267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88502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1000" fill="hold"/>
                                        <p:tgtEl>
                                          <p:spTgt spid="4098"/>
                                        </p:tgtEl>
                                        <p:attrNameLst>
                                          <p:attrName>ppt_w</p:attrName>
                                        </p:attrNameLst>
                                      </p:cBhvr>
                                      <p:tavLst>
                                        <p:tav tm="0">
                                          <p:val>
                                            <p:fltVal val="0"/>
                                          </p:val>
                                        </p:tav>
                                        <p:tav tm="100000">
                                          <p:val>
                                            <p:strVal val="#ppt_w"/>
                                          </p:val>
                                        </p:tav>
                                      </p:tavLst>
                                    </p:anim>
                                    <p:anim calcmode="lin" valueType="num">
                                      <p:cBhvr>
                                        <p:cTn id="8" dur="1000" fill="hold"/>
                                        <p:tgtEl>
                                          <p:spTgt spid="4098"/>
                                        </p:tgtEl>
                                        <p:attrNameLst>
                                          <p:attrName>ppt_h</p:attrName>
                                        </p:attrNameLst>
                                      </p:cBhvr>
                                      <p:tavLst>
                                        <p:tav tm="0">
                                          <p:val>
                                            <p:fltVal val="0"/>
                                          </p:val>
                                        </p:tav>
                                        <p:tav tm="100000">
                                          <p:val>
                                            <p:strVal val="#ppt_h"/>
                                          </p:val>
                                        </p:tav>
                                      </p:tavLst>
                                    </p:anim>
                                    <p:anim calcmode="lin" valueType="num">
                                      <p:cBhvr>
                                        <p:cTn id="9" dur="1000" fill="hold"/>
                                        <p:tgtEl>
                                          <p:spTgt spid="4098"/>
                                        </p:tgtEl>
                                        <p:attrNameLst>
                                          <p:attrName>style.rotation</p:attrName>
                                        </p:attrNameLst>
                                      </p:cBhvr>
                                      <p:tavLst>
                                        <p:tav tm="0">
                                          <p:val>
                                            <p:fltVal val="90"/>
                                          </p:val>
                                        </p:tav>
                                        <p:tav tm="100000">
                                          <p:val>
                                            <p:fltVal val="0"/>
                                          </p:val>
                                        </p:tav>
                                      </p:tavLst>
                                    </p:anim>
                                    <p:animEffect transition="in" filter="fade">
                                      <p:cBhvr>
                                        <p:cTn id="10"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a:t>Used two clustering algorithms:</a:t>
            </a:r>
          </a:p>
          <a:p>
            <a:pPr lvl="1"/>
            <a:r>
              <a:rPr lang="en-US" sz="2000" b="1" dirty="0"/>
              <a:t>K-Means (K=4)</a:t>
            </a:r>
            <a:endParaRPr lang="en-US" sz="2000" dirty="0"/>
          </a:p>
          <a:p>
            <a:pPr lvl="1"/>
            <a:r>
              <a:rPr lang="en-US" sz="2000" b="1" dirty="0"/>
              <a:t>DBSCAN</a:t>
            </a:r>
            <a:endParaRPr lang="en-US" sz="2000" dirty="0"/>
          </a:p>
          <a:p>
            <a:r>
              <a:rPr lang="en-US" sz="2400" dirty="0"/>
              <a:t>K-Means divides data into fixed clusters based on similarity.</a:t>
            </a:r>
          </a:p>
          <a:p>
            <a:r>
              <a:rPr lang="en-US" sz="2400" dirty="0"/>
              <a:t>DBSCAN identifies dense areas and detects noise points.</a:t>
            </a:r>
          </a:p>
          <a:p>
            <a:r>
              <a:rPr lang="en-US" sz="2400" dirty="0"/>
              <a:t>Evaluated using:</a:t>
            </a:r>
          </a:p>
          <a:p>
            <a:r>
              <a:rPr lang="en-US" sz="2400" b="1" dirty="0"/>
              <a:t>Silhouette Score</a:t>
            </a:r>
            <a:endParaRPr lang="en-US" sz="2400" dirty="0"/>
          </a:p>
          <a:p>
            <a:r>
              <a:rPr lang="en-US" sz="2400" b="1" dirty="0"/>
              <a:t>Davies–</a:t>
            </a:r>
            <a:r>
              <a:rPr lang="en-US" sz="2400" b="1" dirty="0" err="1"/>
              <a:t>Bouldin</a:t>
            </a:r>
            <a:r>
              <a:rPr lang="en-US" sz="2400" b="1" dirty="0"/>
              <a:t> Score</a:t>
            </a:r>
            <a:endParaRPr lang="en-US" sz="2400" dirty="0"/>
          </a:p>
          <a:p>
            <a:r>
              <a:rPr lang="en-US" sz="2400" b="1" dirty="0" err="1"/>
              <a:t>Calinski</a:t>
            </a:r>
            <a:r>
              <a:rPr lang="en-US" sz="2400" b="1" dirty="0"/>
              <a:t>–</a:t>
            </a:r>
            <a:r>
              <a:rPr lang="en-US" sz="2400" b="1" dirty="0" err="1"/>
              <a:t>Harabasz</a:t>
            </a:r>
            <a:r>
              <a:rPr lang="en-US" sz="2400" b="1" dirty="0"/>
              <a:t> Score</a:t>
            </a:r>
            <a:endParaRPr lang="en-US" sz="2400" dirty="0"/>
          </a:p>
          <a:p>
            <a:endParaRPr lang="en-US" sz="2400" dirty="0"/>
          </a:p>
        </p:txBody>
      </p:sp>
      <p:sp>
        <p:nvSpPr>
          <p:cNvPr id="3" name="Title 2"/>
          <p:cNvSpPr>
            <a:spLocks noGrp="1"/>
          </p:cNvSpPr>
          <p:nvPr>
            <p:ph type="title"/>
          </p:nvPr>
        </p:nvSpPr>
        <p:spPr/>
        <p:txBody>
          <a:bodyPr>
            <a:normAutofit/>
          </a:bodyPr>
          <a:lstStyle/>
          <a:p>
            <a:r>
              <a:rPr lang="en-US" sz="4000" dirty="0"/>
              <a:t>Clustering Models</a:t>
            </a:r>
          </a:p>
        </p:txBody>
      </p:sp>
    </p:spTree>
    <p:extLst>
      <p:ext uri="{BB962C8B-B14F-4D97-AF65-F5344CB8AC3E}">
        <p14:creationId xmlns:p14="http://schemas.microsoft.com/office/powerpoint/2010/main" val="201043850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55269" y="1143000"/>
            <a:ext cx="7057847" cy="4914901"/>
          </a:xfrm>
        </p:spPr>
        <p:txBody>
          <a:bodyPr>
            <a:normAutofit/>
          </a:bodyPr>
          <a:lstStyle/>
          <a:p>
            <a:r>
              <a:rPr lang="en-US" sz="2400" b="1" dirty="0"/>
              <a:t>K-Means</a:t>
            </a:r>
            <a:r>
              <a:rPr lang="en-US" sz="2400" dirty="0"/>
              <a:t> gave </a:t>
            </a:r>
            <a:r>
              <a:rPr lang="en-US" sz="2400" b="1" dirty="0"/>
              <a:t>4 main clusters</a:t>
            </a:r>
            <a:r>
              <a:rPr lang="en-US" sz="2400" dirty="0"/>
              <a:t>.</a:t>
            </a:r>
          </a:p>
          <a:p>
            <a:r>
              <a:rPr lang="en-US" sz="2400" dirty="0"/>
              <a:t>Each cluster shows different spending and payment behavior.</a:t>
            </a:r>
          </a:p>
          <a:p>
            <a:r>
              <a:rPr lang="en-US" sz="2400" dirty="0"/>
              <a:t>For example:</a:t>
            </a:r>
          </a:p>
          <a:p>
            <a:r>
              <a:rPr lang="en-US" sz="2400" dirty="0"/>
              <a:t>Cluster 0: High balance, high purchases.</a:t>
            </a:r>
          </a:p>
          <a:p>
            <a:r>
              <a:rPr lang="en-US" sz="2400" dirty="0"/>
              <a:t>Cluster 1: Moderate spenders.</a:t>
            </a:r>
          </a:p>
          <a:p>
            <a:r>
              <a:rPr lang="en-US" sz="2400" dirty="0"/>
              <a:t>Cluster 2: Low activity customers.</a:t>
            </a:r>
          </a:p>
          <a:p>
            <a:r>
              <a:rPr lang="en-US" sz="2400" dirty="0"/>
              <a:t>Cluster 3: Frequent cash advance users.</a:t>
            </a:r>
          </a:p>
          <a:p>
            <a:r>
              <a:rPr lang="en-US" sz="2400" dirty="0"/>
              <a:t>Visualized using </a:t>
            </a:r>
            <a:r>
              <a:rPr lang="en-US" sz="2400" b="1" dirty="0"/>
              <a:t>PCA scatter plots</a:t>
            </a:r>
            <a:r>
              <a:rPr lang="en-US" sz="2400" dirty="0"/>
              <a:t> and </a:t>
            </a:r>
            <a:r>
              <a:rPr lang="en-US" sz="2400" b="1" dirty="0"/>
              <a:t>pie charts</a:t>
            </a:r>
            <a:r>
              <a:rPr lang="en-US" sz="2400" dirty="0"/>
              <a:t>.</a:t>
            </a:r>
          </a:p>
          <a:p>
            <a:pPr marL="0" indent="0">
              <a:buNone/>
            </a:pPr>
            <a:endParaRPr lang="en-US" sz="2400" dirty="0"/>
          </a:p>
        </p:txBody>
      </p:sp>
      <p:sp>
        <p:nvSpPr>
          <p:cNvPr id="3" name="Title 2"/>
          <p:cNvSpPr>
            <a:spLocks noGrp="1"/>
          </p:cNvSpPr>
          <p:nvPr>
            <p:ph type="title"/>
          </p:nvPr>
        </p:nvSpPr>
        <p:spPr/>
        <p:txBody>
          <a:bodyPr>
            <a:normAutofit/>
          </a:bodyPr>
          <a:lstStyle/>
          <a:p>
            <a:r>
              <a:rPr lang="en-US" sz="4000" dirty="0"/>
              <a:t>Cluster Analysis</a:t>
            </a:r>
          </a:p>
        </p:txBody>
      </p:sp>
    </p:spTree>
    <p:extLst>
      <p:ext uri="{BB962C8B-B14F-4D97-AF65-F5344CB8AC3E}">
        <p14:creationId xmlns:p14="http://schemas.microsoft.com/office/powerpoint/2010/main" val="3213244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55269" y="1109133"/>
            <a:ext cx="7057847" cy="4948768"/>
          </a:xfrm>
        </p:spPr>
        <p:txBody>
          <a:bodyPr>
            <a:normAutofit/>
          </a:bodyPr>
          <a:lstStyle/>
          <a:p>
            <a:r>
              <a:rPr lang="en-US" sz="2400" b="1" dirty="0"/>
              <a:t>High Spenders:</a:t>
            </a:r>
            <a:r>
              <a:rPr lang="en-US" sz="2400" dirty="0"/>
              <a:t> Offer loyalty rewards and credit upgrades.</a:t>
            </a:r>
          </a:p>
          <a:p>
            <a:r>
              <a:rPr lang="en-US" sz="2400" b="1" dirty="0"/>
              <a:t>Moderate Users:</a:t>
            </a:r>
            <a:r>
              <a:rPr lang="en-US" sz="2400" dirty="0"/>
              <a:t> Encourage higher engagement with offers.</a:t>
            </a:r>
          </a:p>
          <a:p>
            <a:r>
              <a:rPr lang="en-US" sz="2400" b="1" dirty="0"/>
              <a:t>Low Users:</a:t>
            </a:r>
            <a:r>
              <a:rPr lang="en-US" sz="2400" dirty="0"/>
              <a:t> Target with awareness and usage campaigns.</a:t>
            </a:r>
          </a:p>
          <a:p>
            <a:r>
              <a:rPr lang="en-US" sz="2400" b="1" dirty="0"/>
              <a:t>Cash Advance Users:</a:t>
            </a:r>
            <a:r>
              <a:rPr lang="en-US" sz="2400" dirty="0"/>
              <a:t> Monitor for credit risk and provide financial guidance.</a:t>
            </a:r>
          </a:p>
          <a:p>
            <a:r>
              <a:rPr lang="en-US" sz="2400" dirty="0"/>
              <a:t>Cluster insights saved for future business use.</a:t>
            </a:r>
          </a:p>
          <a:p>
            <a:endParaRPr lang="en-US" sz="2400" dirty="0"/>
          </a:p>
        </p:txBody>
      </p:sp>
      <p:sp>
        <p:nvSpPr>
          <p:cNvPr id="3" name="Title 2"/>
          <p:cNvSpPr>
            <a:spLocks noGrp="1"/>
          </p:cNvSpPr>
          <p:nvPr>
            <p:ph type="title"/>
          </p:nvPr>
        </p:nvSpPr>
        <p:spPr/>
        <p:txBody>
          <a:bodyPr>
            <a:normAutofit/>
          </a:bodyPr>
          <a:lstStyle/>
          <a:p>
            <a:r>
              <a:rPr lang="en-US" sz="4000" dirty="0"/>
              <a:t>Business Insights</a:t>
            </a:r>
          </a:p>
        </p:txBody>
      </p:sp>
    </p:spTree>
    <p:extLst>
      <p:ext uri="{BB962C8B-B14F-4D97-AF65-F5344CB8AC3E}">
        <p14:creationId xmlns:p14="http://schemas.microsoft.com/office/powerpoint/2010/main" val="350601437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87816"/>
          </a:xfrm>
        </p:spPr>
        <p:style>
          <a:lnRef idx="1">
            <a:schemeClr val="accent1"/>
          </a:lnRef>
          <a:fillRef idx="2">
            <a:schemeClr val="accent1"/>
          </a:fillRef>
          <a:effectRef idx="1">
            <a:schemeClr val="accent1"/>
          </a:effectRef>
          <a:fontRef idx="minor">
            <a:schemeClr val="dk1"/>
          </a:fontRef>
        </p:style>
        <p:txBody>
          <a:bodyPr>
            <a:normAutofit/>
          </a:bodyPr>
          <a:lstStyle/>
          <a:p>
            <a:r>
              <a:rPr lang="en-US" sz="4000" dirty="0" smtClean="0"/>
              <a:t>                               Cluster </a:t>
            </a:r>
            <a:r>
              <a:rPr lang="en-US" sz="4000" dirty="0"/>
              <a:t>Analysis &amp; Insights</a:t>
            </a:r>
          </a:p>
        </p:txBody>
      </p:sp>
      <p:graphicFrame>
        <p:nvGraphicFramePr>
          <p:cNvPr id="7" name="Table 6"/>
          <p:cNvGraphicFramePr>
            <a:graphicFrameLocks noGrp="1"/>
          </p:cNvGraphicFramePr>
          <p:nvPr>
            <p:extLst>
              <p:ext uri="{D42A27DB-BD31-4B8C-83A1-F6EECF244321}">
                <p14:modId xmlns:p14="http://schemas.microsoft.com/office/powerpoint/2010/main" val="850889552"/>
              </p:ext>
            </p:extLst>
          </p:nvPr>
        </p:nvGraphicFramePr>
        <p:xfrm>
          <a:off x="457202" y="2134372"/>
          <a:ext cx="6991349" cy="3313929"/>
        </p:xfrm>
        <a:graphic>
          <a:graphicData uri="http://schemas.openxmlformats.org/drawingml/2006/table">
            <a:tbl>
              <a:tblPr>
                <a:tableStyleId>{35758FB7-9AC5-4552-8A53-C91805E547FA}</a:tableStyleId>
              </a:tblPr>
              <a:tblGrid>
                <a:gridCol w="869089"/>
                <a:gridCol w="2182383"/>
                <a:gridCol w="3939877"/>
              </a:tblGrid>
              <a:tr h="519174">
                <a:tc>
                  <a:txBody>
                    <a:bodyPr/>
                    <a:lstStyle/>
                    <a:p>
                      <a:r>
                        <a:rPr lang="en-US" dirty="0"/>
                        <a:t>Cluster</a:t>
                      </a:r>
                    </a:p>
                  </a:txBody>
                  <a:tcPr anchor="ctr"/>
                </a:tc>
                <a:tc>
                  <a:txBody>
                    <a:bodyPr/>
                    <a:lstStyle/>
                    <a:p>
                      <a:r>
                        <a:rPr lang="en-US" dirty="0"/>
                        <a:t>Behavior Summary</a:t>
                      </a:r>
                    </a:p>
                  </a:txBody>
                  <a:tcPr anchor="ctr"/>
                </a:tc>
                <a:tc>
                  <a:txBody>
                    <a:bodyPr/>
                    <a:lstStyle/>
                    <a:p>
                      <a:r>
                        <a:rPr lang="en-US" dirty="0"/>
                        <a:t>Key Traits</a:t>
                      </a:r>
                    </a:p>
                  </a:txBody>
                  <a:tcPr anchor="ctr"/>
                </a:tc>
              </a:tr>
              <a:tr h="628734">
                <a:tc>
                  <a:txBody>
                    <a:bodyPr/>
                    <a:lstStyle/>
                    <a:p>
                      <a:r>
                        <a:rPr lang="en-US" dirty="0"/>
                        <a:t>0</a:t>
                      </a:r>
                    </a:p>
                  </a:txBody>
                  <a:tcPr anchor="ctr"/>
                </a:tc>
                <a:tc>
                  <a:txBody>
                    <a:bodyPr/>
                    <a:lstStyle/>
                    <a:p>
                      <a:r>
                        <a:rPr lang="en-US" dirty="0"/>
                        <a:t>Premium Customers</a:t>
                      </a:r>
                    </a:p>
                  </a:txBody>
                  <a:tcPr anchor="ctr"/>
                </a:tc>
                <a:tc>
                  <a:txBody>
                    <a:bodyPr/>
                    <a:lstStyle/>
                    <a:p>
                      <a:r>
                        <a:rPr lang="en-US" dirty="0"/>
                        <a:t>High balance, high payments</a:t>
                      </a:r>
                    </a:p>
                  </a:txBody>
                  <a:tcPr anchor="ctr"/>
                </a:tc>
              </a:tr>
              <a:tr h="908553">
                <a:tc>
                  <a:txBody>
                    <a:bodyPr/>
                    <a:lstStyle/>
                    <a:p>
                      <a:r>
                        <a:rPr lang="en-US"/>
                        <a:t>1</a:t>
                      </a:r>
                    </a:p>
                  </a:txBody>
                  <a:tcPr anchor="ctr"/>
                </a:tc>
                <a:tc>
                  <a:txBody>
                    <a:bodyPr/>
                    <a:lstStyle/>
                    <a:p>
                      <a:r>
                        <a:rPr lang="en-US"/>
                        <a:t>Cash Advance Users</a:t>
                      </a:r>
                    </a:p>
                  </a:txBody>
                  <a:tcPr anchor="ctr"/>
                </a:tc>
                <a:tc>
                  <a:txBody>
                    <a:bodyPr/>
                    <a:lstStyle/>
                    <a:p>
                      <a:r>
                        <a:rPr lang="en-US" dirty="0"/>
                        <a:t>High cash withdrawal, low repayment</a:t>
                      </a:r>
                    </a:p>
                  </a:txBody>
                  <a:tcPr anchor="ctr"/>
                </a:tc>
              </a:tr>
              <a:tr h="628734">
                <a:tc>
                  <a:txBody>
                    <a:bodyPr/>
                    <a:lstStyle/>
                    <a:p>
                      <a:r>
                        <a:rPr lang="en-US" dirty="0"/>
                        <a:t>2</a:t>
                      </a:r>
                    </a:p>
                  </a:txBody>
                  <a:tcPr anchor="ctr"/>
                </a:tc>
                <a:tc>
                  <a:txBody>
                    <a:bodyPr/>
                    <a:lstStyle/>
                    <a:p>
                      <a:r>
                        <a:rPr lang="en-US"/>
                        <a:t>Regular Users</a:t>
                      </a:r>
                    </a:p>
                  </a:txBody>
                  <a:tcPr anchor="ctr"/>
                </a:tc>
                <a:tc>
                  <a:txBody>
                    <a:bodyPr/>
                    <a:lstStyle/>
                    <a:p>
                      <a:r>
                        <a:rPr lang="en-US"/>
                        <a:t>Moderate purchases and payments</a:t>
                      </a:r>
                    </a:p>
                  </a:txBody>
                  <a:tcPr anchor="ctr"/>
                </a:tc>
              </a:tr>
              <a:tr h="628734">
                <a:tc>
                  <a:txBody>
                    <a:bodyPr/>
                    <a:lstStyle/>
                    <a:p>
                      <a:r>
                        <a:rPr lang="en-US"/>
                        <a:t>3</a:t>
                      </a:r>
                    </a:p>
                  </a:txBody>
                  <a:tcPr anchor="ctr"/>
                </a:tc>
                <a:tc>
                  <a:txBody>
                    <a:bodyPr/>
                    <a:lstStyle/>
                    <a:p>
                      <a:r>
                        <a:rPr lang="en-US" dirty="0"/>
                        <a:t>Dormant Users</a:t>
                      </a:r>
                    </a:p>
                  </a:txBody>
                  <a:tcPr anchor="ctr"/>
                </a:tc>
                <a:tc>
                  <a:txBody>
                    <a:bodyPr/>
                    <a:lstStyle/>
                    <a:p>
                      <a:r>
                        <a:rPr lang="en-US" dirty="0"/>
                        <a:t>Low usage and small transactions</a:t>
                      </a:r>
                    </a:p>
                  </a:txBody>
                  <a:tcPr anchor="ctr"/>
                </a:tc>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5464" y="1735138"/>
            <a:ext cx="3988411" cy="393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46494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animEffect transition="in" filter="wheel(1)">
                                      <p:cBhvr>
                                        <p:cTn id="7" dur="2000"/>
                                        <p:tgtEl>
                                          <p:spTgt spid="1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9" y="1756191"/>
            <a:ext cx="2746375" cy="2330034"/>
          </a:xfrm>
        </p:spPr>
        <p:txBody>
          <a:bodyPr>
            <a:noAutofit/>
          </a:bodyPr>
          <a:lstStyle/>
          <a:p>
            <a:r>
              <a:rPr lang="en-US" sz="4000" dirty="0" smtClean="0">
                <a:solidFill>
                  <a:schemeClr val="bg1"/>
                </a:solidFill>
              </a:rPr>
              <a:t>AI </a:t>
            </a:r>
            <a:r>
              <a:rPr lang="en-US" sz="4000" dirty="0">
                <a:solidFill>
                  <a:schemeClr val="bg1"/>
                </a:solidFill>
              </a:rPr>
              <a:t>Model for Cluster Prediction</a:t>
            </a:r>
          </a:p>
        </p:txBody>
      </p:sp>
      <p:sp>
        <p:nvSpPr>
          <p:cNvPr id="3" name="Content Placeholder 2"/>
          <p:cNvSpPr>
            <a:spLocks noGrp="1"/>
          </p:cNvSpPr>
          <p:nvPr>
            <p:ph idx="1"/>
          </p:nvPr>
        </p:nvSpPr>
        <p:spPr>
          <a:xfrm>
            <a:off x="276225" y="1381125"/>
            <a:ext cx="7705725" cy="4676776"/>
          </a:xfrm>
        </p:spPr>
        <p:txBody>
          <a:bodyPr>
            <a:normAutofit/>
          </a:bodyPr>
          <a:lstStyle/>
          <a:p>
            <a:r>
              <a:rPr lang="en-US" sz="2400" dirty="0"/>
              <a:t>Used a </a:t>
            </a:r>
            <a:r>
              <a:rPr lang="en-US" sz="2400" b="1" dirty="0"/>
              <a:t>Random Forest Classifier</a:t>
            </a:r>
            <a:r>
              <a:rPr lang="en-US" sz="2400" dirty="0"/>
              <a:t> to predict customer cluster labels.</a:t>
            </a:r>
          </a:p>
          <a:p>
            <a:r>
              <a:rPr lang="en-US" sz="2400" dirty="0"/>
              <a:t>Trained model on the </a:t>
            </a:r>
            <a:r>
              <a:rPr lang="en-US" sz="2400" b="1" dirty="0"/>
              <a:t>scaled dataset</a:t>
            </a:r>
            <a:r>
              <a:rPr lang="en-US" sz="2400" dirty="0"/>
              <a:t> with 80–20 train-test split.</a:t>
            </a:r>
          </a:p>
          <a:p>
            <a:r>
              <a:rPr lang="en-US" sz="2400" dirty="0"/>
              <a:t>Model achieved </a:t>
            </a:r>
            <a:r>
              <a:rPr lang="en-US" sz="2400" b="1" dirty="0"/>
              <a:t>95% accuracy</a:t>
            </a:r>
            <a:r>
              <a:rPr lang="en-US" sz="2400" dirty="0"/>
              <a:t> on the test </a:t>
            </a:r>
            <a:r>
              <a:rPr lang="en-US" sz="2400" dirty="0" smtClean="0"/>
              <a:t>data.</a:t>
            </a:r>
          </a:p>
          <a:p>
            <a:r>
              <a:rPr lang="en-US" sz="2400" dirty="0" smtClean="0"/>
              <a:t>This </a:t>
            </a:r>
            <a:r>
              <a:rPr lang="en-US" sz="2400" dirty="0"/>
              <a:t>allows </a:t>
            </a:r>
            <a:r>
              <a:rPr lang="en-US" sz="2400" b="1" dirty="0"/>
              <a:t>automatic prediction</a:t>
            </a:r>
            <a:r>
              <a:rPr lang="en-US" sz="2400" dirty="0"/>
              <a:t> of a new customer’s segment</a:t>
            </a:r>
            <a:r>
              <a:rPr lang="en-US" sz="2400" dirty="0" smtClean="0"/>
              <a:t>.</a:t>
            </a:r>
            <a:endParaRPr lang="en-US" sz="2400" dirty="0"/>
          </a:p>
        </p:txBody>
      </p:sp>
    </p:spTree>
    <p:extLst>
      <p:ext uri="{BB962C8B-B14F-4D97-AF65-F5344CB8AC3E}">
        <p14:creationId xmlns:p14="http://schemas.microsoft.com/office/powerpoint/2010/main" val="35513013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3025" y="1599337"/>
            <a:ext cx="9505950" cy="2805063"/>
          </a:xfrm>
          <a:prstGeom prst="rect">
            <a:avLst/>
          </a:prstGeom>
        </p:spPr>
        <p:txBody>
          <a:bodyPr wrap="square">
            <a:spAutoFit/>
          </a:bodyPr>
          <a:lstStyle/>
          <a:p>
            <a:pPr marL="342900" indent="-342900">
              <a:lnSpc>
                <a:spcPct val="150000"/>
              </a:lnSpc>
              <a:buFont typeface="Wingdings" pitchFamily="2" charset="2"/>
              <a:buChar char="§"/>
            </a:pPr>
            <a:r>
              <a:rPr lang="en-US" sz="2400" dirty="0"/>
              <a:t>The dashboard shows overall customer spending </a:t>
            </a:r>
            <a:r>
              <a:rPr lang="en-US" sz="2400" dirty="0" smtClean="0"/>
              <a:t>behavior.</a:t>
            </a:r>
          </a:p>
          <a:p>
            <a:pPr marL="342900" indent="-342900">
              <a:lnSpc>
                <a:spcPct val="150000"/>
              </a:lnSpc>
              <a:buFont typeface="Wingdings" pitchFamily="2" charset="2"/>
              <a:buChar char="§"/>
            </a:pPr>
            <a:r>
              <a:rPr lang="en-US" sz="2400" dirty="0" smtClean="0"/>
              <a:t>It </a:t>
            </a:r>
            <a:r>
              <a:rPr lang="en-US" sz="2400" dirty="0"/>
              <a:t>highlights total customers, total balance, and total </a:t>
            </a:r>
            <a:r>
              <a:rPr lang="en-US" sz="2400" dirty="0" smtClean="0"/>
              <a:t>purchases.</a:t>
            </a:r>
          </a:p>
          <a:p>
            <a:pPr marL="342900" indent="-342900">
              <a:lnSpc>
                <a:spcPct val="150000"/>
              </a:lnSpc>
              <a:buFont typeface="Wingdings" pitchFamily="2" charset="2"/>
              <a:buChar char="§"/>
            </a:pPr>
            <a:r>
              <a:rPr lang="en-US" sz="2400" dirty="0" smtClean="0"/>
              <a:t>The </a:t>
            </a:r>
            <a:r>
              <a:rPr lang="en-US" sz="2400" dirty="0"/>
              <a:t>pie chart compares one-off and installment </a:t>
            </a:r>
            <a:r>
              <a:rPr lang="en-US" sz="2400" dirty="0" smtClean="0"/>
              <a:t>purchases.</a:t>
            </a:r>
          </a:p>
          <a:p>
            <a:pPr marL="342900" indent="-342900">
              <a:lnSpc>
                <a:spcPct val="150000"/>
              </a:lnSpc>
              <a:buFont typeface="Wingdings" pitchFamily="2" charset="2"/>
              <a:buChar char="§"/>
            </a:pPr>
            <a:r>
              <a:rPr lang="en-US" sz="2400" dirty="0" smtClean="0"/>
              <a:t>Tenure </a:t>
            </a:r>
            <a:r>
              <a:rPr lang="en-US" sz="2400" dirty="0"/>
              <a:t>analysis shows that long-term customers spend </a:t>
            </a:r>
            <a:r>
              <a:rPr lang="en-US" sz="2400" dirty="0" smtClean="0"/>
              <a:t>more.</a:t>
            </a:r>
          </a:p>
          <a:p>
            <a:pPr marL="342900" indent="-342900">
              <a:lnSpc>
                <a:spcPct val="150000"/>
              </a:lnSpc>
              <a:buFont typeface="Wingdings" pitchFamily="2" charset="2"/>
              <a:buChar char="§"/>
            </a:pPr>
            <a:r>
              <a:rPr lang="en-US" sz="2400" dirty="0" smtClean="0"/>
              <a:t>Overall</a:t>
            </a:r>
            <a:r>
              <a:rPr lang="en-US" sz="2400" dirty="0"/>
              <a:t>, it helps understand how customers use their credit cards.</a:t>
            </a:r>
          </a:p>
        </p:txBody>
      </p:sp>
      <p:sp>
        <p:nvSpPr>
          <p:cNvPr id="3" name="TextBox 2"/>
          <p:cNvSpPr txBox="1"/>
          <p:nvPr/>
        </p:nvSpPr>
        <p:spPr>
          <a:xfrm>
            <a:off x="0" y="0"/>
            <a:ext cx="12192000" cy="646331"/>
          </a:xfrm>
          <a:prstGeom prst="rect">
            <a:avLst/>
          </a:prstGeom>
        </p:spPr>
        <p:style>
          <a:lnRef idx="1">
            <a:schemeClr val="accent1"/>
          </a:lnRef>
          <a:fillRef idx="2">
            <a:schemeClr val="accent1"/>
          </a:fillRef>
          <a:effectRef idx="1">
            <a:schemeClr val="accent1"/>
          </a:effectRef>
          <a:fontRef idx="minor">
            <a:schemeClr val="dk1"/>
          </a:fontRef>
        </p:style>
        <p:txBody>
          <a:bodyPr vert="horz" lIns="0" tIns="0" rIns="0" bIns="0" rtlCol="0" anchor="ctr">
            <a:normAutofit/>
          </a:bodyPr>
          <a:lstStyle>
            <a:lvl1pPr>
              <a:lnSpc>
                <a:spcPct val="90000"/>
              </a:lnSpc>
              <a:spcBef>
                <a:spcPct val="0"/>
              </a:spcBef>
              <a:buNone/>
              <a:defRPr sz="4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smtClean="0"/>
              <a:t>                                          Dashboard </a:t>
            </a:r>
            <a:endParaRPr lang="en-US" dirty="0"/>
          </a:p>
        </p:txBody>
      </p:sp>
    </p:spTree>
    <p:extLst>
      <p:ext uri="{BB962C8B-B14F-4D97-AF65-F5344CB8AC3E}">
        <p14:creationId xmlns:p14="http://schemas.microsoft.com/office/powerpoint/2010/main" val="118301266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12775"/>
          </a:xfrm>
        </p:spPr>
        <p:style>
          <a:lnRef idx="1">
            <a:schemeClr val="accent1"/>
          </a:lnRef>
          <a:fillRef idx="2">
            <a:schemeClr val="accent1"/>
          </a:fillRef>
          <a:effectRef idx="1">
            <a:schemeClr val="accent1"/>
          </a:effectRef>
          <a:fontRef idx="minor">
            <a:schemeClr val="dk1"/>
          </a:fontRef>
        </p:style>
        <p:txBody>
          <a:bodyPr vert="horz" lIns="0" tIns="0" rIns="0" bIns="0" rtlCol="0" anchor="ctr">
            <a:normAutofit/>
          </a:bodyPr>
          <a:lstStyle/>
          <a:p>
            <a:r>
              <a:rPr lang="en-US" sz="4000" dirty="0" smtClean="0">
                <a:solidFill>
                  <a:schemeClr val="dk1"/>
                </a:solidFill>
                <a:latin typeface="+mn-lt"/>
                <a:ea typeface="+mn-ea"/>
                <a:cs typeface="+mn-cs"/>
              </a:rPr>
              <a:t>                                            Conclusion</a:t>
            </a:r>
            <a:endParaRPr lang="en-US" sz="4000" dirty="0">
              <a:solidFill>
                <a:schemeClr val="dk1"/>
              </a:solidFill>
              <a:latin typeface="+mn-lt"/>
              <a:ea typeface="+mn-ea"/>
              <a:cs typeface="+mn-cs"/>
            </a:endParaRPr>
          </a:p>
        </p:txBody>
      </p:sp>
      <p:sp>
        <p:nvSpPr>
          <p:cNvPr id="3" name="TextBox 2"/>
          <p:cNvSpPr txBox="1"/>
          <p:nvPr/>
        </p:nvSpPr>
        <p:spPr>
          <a:xfrm>
            <a:off x="476249" y="790575"/>
            <a:ext cx="11096625" cy="5021055"/>
          </a:xfrm>
          <a:prstGeom prst="rect">
            <a:avLst/>
          </a:prstGeom>
          <a:noFill/>
        </p:spPr>
        <p:txBody>
          <a:bodyPr wrap="square" rtlCol="0">
            <a:spAutoFit/>
          </a:bodyPr>
          <a:lstStyle/>
          <a:p>
            <a:pPr marL="342900" indent="-342900">
              <a:lnSpc>
                <a:spcPct val="150000"/>
              </a:lnSpc>
              <a:buFont typeface="Wingdings" pitchFamily="2" charset="2"/>
              <a:buChar char="v"/>
            </a:pPr>
            <a:r>
              <a:rPr lang="en-US" sz="2400" dirty="0"/>
              <a:t>This project successfully analyzed and segmented credit card customers based on their spending and payment </a:t>
            </a:r>
            <a:r>
              <a:rPr lang="en-US" sz="2400" dirty="0" smtClean="0"/>
              <a:t>behavior.</a:t>
            </a:r>
          </a:p>
          <a:p>
            <a:pPr marL="342900" indent="-342900">
              <a:lnSpc>
                <a:spcPct val="150000"/>
              </a:lnSpc>
              <a:buFont typeface="Wingdings" pitchFamily="2" charset="2"/>
              <a:buChar char="v"/>
            </a:pPr>
            <a:r>
              <a:rPr lang="en-US" sz="2400" dirty="0" smtClean="0"/>
              <a:t>Using </a:t>
            </a:r>
            <a:r>
              <a:rPr lang="en-US" sz="2400" dirty="0"/>
              <a:t>machine learning and visualization, we identified distinct customer groups such as high spenders, moderate users, low activity customers, and cash advance </a:t>
            </a:r>
            <a:r>
              <a:rPr lang="en-US" sz="2400" dirty="0" smtClean="0"/>
              <a:t>users.</a:t>
            </a:r>
          </a:p>
          <a:p>
            <a:pPr marL="342900" indent="-342900">
              <a:lnSpc>
                <a:spcPct val="150000"/>
              </a:lnSpc>
              <a:buFont typeface="Wingdings" pitchFamily="2" charset="2"/>
              <a:buChar char="v"/>
            </a:pPr>
            <a:r>
              <a:rPr lang="en-US" sz="2400" dirty="0" smtClean="0"/>
              <a:t>The </a:t>
            </a:r>
            <a:r>
              <a:rPr lang="en-US" sz="2400" dirty="0"/>
              <a:t>dashboard and AI model together provide clear insights that can help banks design personalized offers, improve customer retention, and manage credit risk </a:t>
            </a:r>
            <a:r>
              <a:rPr lang="en-US" sz="2400" dirty="0" smtClean="0"/>
              <a:t>effectively.</a:t>
            </a:r>
          </a:p>
          <a:p>
            <a:pPr marL="342900" indent="-342900">
              <a:lnSpc>
                <a:spcPct val="150000"/>
              </a:lnSpc>
              <a:buFont typeface="Wingdings" pitchFamily="2" charset="2"/>
              <a:buChar char="v"/>
            </a:pPr>
            <a:r>
              <a:rPr lang="en-US" sz="2400" dirty="0" smtClean="0"/>
              <a:t>Overall</a:t>
            </a:r>
            <a:r>
              <a:rPr lang="en-US" sz="2400" dirty="0"/>
              <a:t>, the project transforms raw data into meaningful business intelligence for smarter decision-making.</a:t>
            </a:r>
          </a:p>
        </p:txBody>
      </p:sp>
    </p:spTree>
    <p:extLst>
      <p:ext uri="{BB962C8B-B14F-4D97-AF65-F5344CB8AC3E}">
        <p14:creationId xmlns:p14="http://schemas.microsoft.com/office/powerpoint/2010/main" val="36657688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8894</TotalTime>
  <Words>561</Words>
  <Application>Microsoft Office PowerPoint</Application>
  <PresentationFormat>Custom</PresentationFormat>
  <Paragraphs>96</Paragraphs>
  <Slides>14</Slides>
  <Notes>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BIA Template</vt:lpstr>
      <vt:lpstr>PowerPoint Presentation</vt:lpstr>
      <vt:lpstr>     Agenda</vt:lpstr>
      <vt:lpstr>                                       Project Overview</vt:lpstr>
      <vt:lpstr>Dataset  Description</vt:lpstr>
      <vt:lpstr>                                     Data Preprocessing</vt:lpstr>
      <vt:lpstr>                         Exploratory Data Analysis (EDA)</vt:lpstr>
      <vt:lpstr>Clustering Models</vt:lpstr>
      <vt:lpstr>Cluster Analysis</vt:lpstr>
      <vt:lpstr>Business Insights</vt:lpstr>
      <vt:lpstr>                               Cluster Analysis &amp; Insights</vt:lpstr>
      <vt:lpstr>AI Model for Cluster Prediction</vt:lpstr>
      <vt:lpstr>PowerPoint Presentation</vt:lpstr>
      <vt:lpstr>                                            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ASUS</cp:lastModifiedBy>
  <cp:revision>2277</cp:revision>
  <dcterms:created xsi:type="dcterms:W3CDTF">2020-12-23T13:36:00Z</dcterms:created>
  <dcterms:modified xsi:type="dcterms:W3CDTF">2025-10-24T17:20:27Z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